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XsL8siAHO/uONU8ZpnAEMrucI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0:40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UniPlan como el nombre del servicio y explicar en una frase qué hace: centraliza la planificación docente, valida conflictos y prepara la información para el proceso posterior en Academusoft. Indicar que el caso proviene de una institución de educación superior de Colombia, cuyo nombre y datos sensibles no se mostrarán.</a:t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1:10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el contexto: la planificación depende de múltiples planillas y consolidación manual. Las cifras de aproximadamente 4.300 estudiantes, 208 profesores y cerca de dos meses sirven para dimensionar el proceso. Aclarar que son estimaciones compartibles y que no se mostrarán archivos reales ni información identificable de la institución.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Recorrer el proceso actual de izquierda a derecha: responsables generan planillas, se consolidan, se revisan conflictos, se corrigen y se obtiene el horario final para el flujo posterior. Enfatizar que el mayor problema no es escribir un horario, sino mantenerlo consistente cuando existen cruces de profesor, aula, carga, disponibilidad y versiones distintas.</a:t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1:10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Presentar UniPlan como la solución: un servicio web centralizado. Explicar que no genera horarios automáticamente; el planificador mantiene el control y el sistema valida antes de guardar. Destacar mantenedores, planificación manual, validaciones, consultas y exportación para Academusoft como capacidades del servicio.</a:t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que la solución no utiliza una cadena jerárquica rígida, sino un modelo relacional. La parte territorial agrupa Centro Tutorial, Sede y Aula; la parte académica Facultad, Programa y Plan de Estudio; y la planificación trabaja con Periodo, Grupo, Oferta Académica y Horario. La relación Programa–Centro Tutorial permite representar dónde se imparte cada programa.</a:t>
            </a:r>
            <a:endParaRPr/>
          </a:p>
        </p:txBody>
      </p:sp>
      <p:sp>
        <p:nvSpPr>
          <p:cNvPr id="154" name="Google Shape;1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1:15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SMART sin definirlo de memoria. Mostrar cómo se aplicó: el objetivo es específico porque define UniPlan y sus funciones; medible por entregables y pruebas; alcanzable porque el horario se construye manualmente; relevante porque responde al proceso real; y temporal porque las actividades se distribuyen en 18 semanas. Luego resumir los cinco objetivos específicos por semanas.</a:t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Scrum adaptado a Capstone. El Product Backlog se gestionará en Trello; las tareas se priorizan, se desarrollan en incrementos, se prueban y se revisan. No es necesario afirmar que se seguirá Scrum puro: la adaptación busca mantener trazabilidad y poder ajustar reglas de negocio que todavía deban ser confirmadas.</a:t>
            </a:r>
            <a:endParaRPr/>
          </a:p>
        </p:txBody>
      </p:sp>
      <p:sp>
        <p:nvSpPr>
          <p:cNvPr id="267" name="Google Shape;26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8bba1b173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8bba1b173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f8bba1b173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0:55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Mostrar la Carta Gantt como visión del semestre, no leer cada fila. Señalar que las primeras semanas concentran análisis y diseño; luego módulos base, estructura académica y planificación; después validaciones, consultas e integración; y las últimas semanas pruebas, correcciones, documentación y despliegue.</a:t>
            </a:r>
            <a:endParaRPr/>
          </a:p>
        </p:txBody>
      </p:sp>
      <p:sp>
        <p:nvSpPr>
          <p:cNvPr id="319" name="Google Shape;31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1:00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las herramientas por función. Trello gestiona el backlog; Python/Django implementa el servicio; SQLite se usa en el prototipo local y PostgreSQL será la base del servicio; Git/GitHub controla versiones; Draw.io/Figma apoya diseño; Django Test/Postman las pruebas; Render será la plataforma de despliegue de la demo; OneDrive mantiene documentación; y Academusoft se integra mediante un Excel validado con su especificación oficial.</a:t>
            </a:r>
            <a:endParaRPr/>
          </a:p>
        </p:txBody>
      </p:sp>
      <p:sp>
        <p:nvSpPr>
          <p:cNvPr id="385" name="Google Shape;3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8bba1b173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f8bba1b173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8bba1b173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1:30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Aquí se deben pegar cuatro capturas reales. 1) Inicio o planificación semanal: demuestra la vista central del trabajo. 2) Mantenedores: demuestra administración de la estructura institucional. 3) Nueva asignación o edición: muestra cómo el usuario construye manualmente el horario. 4) Conflicto real: demuestra el valor principal de UniPlan. Explicar el flujo Login → Planificación → Nueva asignación → Validación → Guardar o corregir → Consulta.</a:t>
            </a:r>
            <a:endParaRPr/>
          </a:p>
        </p:txBody>
      </p:sp>
      <p:sp>
        <p:nvSpPr>
          <p:cNvPr id="470" name="Google Shape;4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8bba1b173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8bba1b173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f8bba1b173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8bba1b173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f8bba1b173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g3f8bba1b173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8bba1b173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8bba1b173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f8bba1b173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8bba1b173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8bba1b173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f8bba1b173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0:55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Pegar una captura real de GitHub en la sección Commits. Explicar que los commits prueban evolución y trazabilidad, no solo un resultado final. Señalar también que OneDrive concentra la documentación y Trello mostrará Product Backlog y seguimiento de las tareas. Evitar mostrar información sensible en nombres de archivos o capturas.</a:t>
            </a:r>
            <a:endParaRPr/>
          </a:p>
        </p:txBody>
      </p:sp>
      <p:sp>
        <p:nvSpPr>
          <p:cNvPr id="533" name="Google Shape;5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Iván · 0:50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Reflexionar sobre los aprendizajes esperados: coordinación real entre dos integrantes, uso de una metodología ágil, diseño de una solución relacional, desarrollo integrado, pruebas, control de versiones y comunicación de resultados. Conectar estos aprendizajes con las competencias de Ingeniería en Informática.</a:t>
            </a:r>
            <a:endParaRPr/>
          </a:p>
        </p:txBody>
      </p:sp>
      <p:sp>
        <p:nvSpPr>
          <p:cNvPr id="558" name="Google Shape;5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Maximiliano · 0:55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Cerrar con el impacto: UniPlan no reemplaza al planificador, sino que le entrega validaciones y trazabilidad para tomar mejores decisiones. Indicar los siguientes pasos concretos: terminar pruebas, disponibilidad y carga docente, validar el formato oficial de Academusoft, PostgreSQL y despliegue en Render. Cerrar recordando que existe un problema real, un prototipo funcional y un plan de desarrollo.</a:t>
            </a:r>
            <a:endParaRPr/>
          </a:p>
        </p:txBody>
      </p:sp>
      <p:sp>
        <p:nvSpPr>
          <p:cNvPr id="590" name="Google Shape;5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3F6F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4"/>
          <p:cNvCxnSpPr/>
          <p:nvPr/>
        </p:nvCxnSpPr>
        <p:spPr>
          <a:xfrm>
            <a:off x="0" y="6611112"/>
            <a:ext cx="12191695" cy="0"/>
          </a:xfrm>
          <a:prstGeom prst="straightConnector1">
            <a:avLst/>
          </a:prstGeom>
          <a:noFill/>
          <a:ln cap="flat" cmpd="sng" w="12700">
            <a:solidFill>
              <a:srgbClr val="D8E0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14"/>
          <p:cNvSpPr/>
          <p:nvPr/>
        </p:nvSpPr>
        <p:spPr>
          <a:xfrm>
            <a:off x="502920" y="6656832"/>
            <a:ext cx="5029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Proyecto APT · Fase 1 · Planificación Docente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13" Type="http://schemas.openxmlformats.org/officeDocument/2006/relationships/image" Target="../media/image2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 cap="flat" cmpd="sng" w="12700">
            <a:solidFill>
              <a:srgbClr val="F3F6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" y="123444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FASE 1 · PRESENTACIÓN DEL PROYECTO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85800" y="16002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3400"/>
              <a:buFont typeface="Calibri"/>
              <a:buNone/>
            </a:pPr>
            <a:r>
              <a:rPr b="1" i="0" lang="en-US" sz="38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UniPlan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306324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Calibri"/>
              <a:buNone/>
            </a:pPr>
            <a:r>
              <a:rPr lang="en-US" sz="1700">
                <a:solidFill>
                  <a:srgbClr val="64748B"/>
                </a:solidFill>
              </a:rPr>
              <a:t>Plataforma</a:t>
            </a:r>
            <a:r>
              <a:rPr b="0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Web para la Planificación y Validación de Horarios Académicos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3977640"/>
            <a:ext cx="47548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60120" y="420624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Integrantes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960120" y="44531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Maximiliano Guzmán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Iván Tobar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15000" y="3977640"/>
            <a:ext cx="47548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7E0EA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61888" y="42062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Asignatura y docente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961888" y="45262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Capstone · Cindy Contador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823960" y="914400"/>
            <a:ext cx="2560320" cy="256032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63500">
            <a:solidFill>
              <a:srgbClr val="BBD2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458200" y="1554480"/>
            <a:ext cx="2834640" cy="1005840"/>
          </a:xfrm>
          <a:prstGeom prst="roundRect">
            <a:avLst>
              <a:gd fmla="val 10909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686800" y="1810512"/>
            <a:ext cx="23774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9098280" y="2743200"/>
            <a:ext cx="1463040" cy="64008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229600" y="358444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Planificar → Validar → Consolidar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Planificación académica apoyada principalmente en planillas y consolidación manual.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1691640"/>
            <a:ext cx="20574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6E0E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77240" y="182880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≈ 4.300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749808" y="2313432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estudiantes considerados en el contexto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880360" y="1691640"/>
            <a:ext cx="20574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6E0E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017520" y="182880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8C63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078C63"/>
                </a:solidFill>
                <a:latin typeface="Calibri"/>
                <a:ea typeface="Calibri"/>
                <a:cs typeface="Calibri"/>
                <a:sym typeface="Calibri"/>
              </a:rPr>
              <a:t>208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2990088" y="2313432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profesores involucrados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120640" y="1691640"/>
            <a:ext cx="205740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6E0ED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57800" y="1828800"/>
            <a:ext cx="1783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500"/>
              <a:buFont typeface="Calibri"/>
              <a:buNone/>
            </a:pPr>
            <a:r>
              <a:rPr b="1" i="0" lang="en-US" sz="2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≈ 2 meses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230368" y="2313432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duración estimada del proceso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" y="3154680"/>
            <a:ext cx="4297680" cy="1234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" y="3154680"/>
            <a:ext cx="54864" cy="123444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04672" y="330098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Dolor principal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04672" y="3593592"/>
            <a:ext cx="4023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información se arma y revisa en múltiples planillas Excel, generando conflictos, versiones distintas y reprocesos.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40080" y="4572000"/>
            <a:ext cx="429768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40080" y="4572000"/>
            <a:ext cx="54864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804672" y="471830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Usuarios afectados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804672" y="501091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Planificadores, coordinadores académicos, profesores y estudiantes de forma indirecta.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92240" y="5715000"/>
            <a:ext cx="4114800" cy="292608"/>
          </a:xfrm>
          <a:prstGeom prst="roundRect">
            <a:avLst>
              <a:gd fmla="val 31250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6492240" y="5783580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Cifras estimadas y compartibles del contexto levantado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Proceso actual y puntos críticos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mayor dificultad no es crear un horario, sino validarlo y mantenerlo consistente.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292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264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Sedes / responsables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1264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crean planillas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254203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83464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94436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Consolidación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94436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87375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16636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1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27608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27608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conflictos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20547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49808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1F2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60780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Correcciones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760780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reprocesos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537192" y="2084832"/>
            <a:ext cx="41148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829800" y="1828800"/>
            <a:ext cx="19659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939528" y="1993392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Horario final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939528" y="2304288"/>
            <a:ext cx="1737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Academusoft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77240" y="370332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77240" y="3703320"/>
            <a:ext cx="54864" cy="77724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41832" y="384962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Cruce docente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941832" y="414223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profesor puede quedar asignado en dos bloques simultáneos.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63640" y="370332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263640" y="3703320"/>
            <a:ext cx="54864" cy="77724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428232" y="384962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Cruce de aula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428232" y="414223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 misma sala puede ser utilizada por más de una asignatura.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77240" y="475488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777240" y="4754880"/>
            <a:ext cx="54864" cy="7772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941832" y="490118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Carga / disponibilidad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41832" y="519379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Las horas disponibles o contratadas deben ser respetadas.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263640" y="4754880"/>
            <a:ext cx="48920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263640" y="4754880"/>
            <a:ext cx="54864" cy="7772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6428232" y="4901184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Versiones Excel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428232" y="5193792"/>
            <a:ext cx="4617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consolidación produce diferencias entre archivos.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Solución propuesta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Una plataforma web centralizada, ofrecida como servicio informático para la universidad.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709174" y="2883007"/>
            <a:ext cx="2743200" cy="774600"/>
          </a:xfrm>
          <a:prstGeom prst="roundRect">
            <a:avLst>
              <a:gd fmla="val 5000" name="adj"/>
            </a:avLst>
          </a:prstGeom>
          <a:solidFill>
            <a:srgbClr val="082B52"/>
          </a:solidFill>
          <a:ln cap="flat" cmpd="sng" w="9525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13447" rotWithShape="0" algn="bl" dir="2700000" dist="35858">
              <a:srgbClr val="A8B3C3">
                <a:alpha val="18039"/>
              </a:srgbClr>
            </a:outerShdw>
          </a:effectLst>
        </p:spPr>
        <p:txBody>
          <a:bodyPr anchorCtr="0" anchor="ctr" bIns="64550" lIns="64550" spcFirstLastPara="1" rIns="64550" wrap="square" tIns="64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902833" y="3049279"/>
            <a:ext cx="2355900" cy="1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1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902833" y="3323641"/>
            <a:ext cx="2355900" cy="1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EBFF"/>
              </a:buClr>
              <a:buSzPts val="776"/>
              <a:buFont typeface="Calibri"/>
              <a:buNone/>
            </a:pPr>
            <a:r>
              <a:rPr lang="en-US" sz="1050">
                <a:solidFill>
                  <a:srgbClr val="64748B"/>
                </a:solidFill>
              </a:rPr>
              <a:t>Plataforma </a:t>
            </a: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Web de Planificación Docente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22960" y="14630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22960" y="1463040"/>
            <a:ext cx="54864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87552" y="16093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Centralización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87552" y="19019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>
            <a:stCxn id="119" idx="3"/>
            <a:endCxn id="116" idx="1"/>
          </p:cNvCxnSpPr>
          <p:nvPr/>
        </p:nvCxnSpPr>
        <p:spPr>
          <a:xfrm>
            <a:off x="3520440" y="1874520"/>
            <a:ext cx="1188600" cy="13959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4"/>
          <p:cNvSpPr/>
          <p:nvPr/>
        </p:nvSpPr>
        <p:spPr>
          <a:xfrm>
            <a:off x="822960" y="28346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22960" y="2834640"/>
            <a:ext cx="54864" cy="82296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987552" y="29809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Mantenedores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87552" y="32735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4"/>
          <p:cNvCxnSpPr>
            <a:stCxn id="124" idx="3"/>
            <a:endCxn id="116" idx="1"/>
          </p:cNvCxnSpPr>
          <p:nvPr/>
        </p:nvCxnSpPr>
        <p:spPr>
          <a:xfrm>
            <a:off x="3520440" y="3246120"/>
            <a:ext cx="1188600" cy="24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4"/>
          <p:cNvSpPr/>
          <p:nvPr/>
        </p:nvSpPr>
        <p:spPr>
          <a:xfrm>
            <a:off x="822960" y="42062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22960" y="4206240"/>
            <a:ext cx="54864" cy="8229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987552" y="43525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Planificación manual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87552" y="46451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4"/>
          <p:cNvCxnSpPr>
            <a:stCxn id="129" idx="3"/>
            <a:endCxn id="116" idx="1"/>
          </p:cNvCxnSpPr>
          <p:nvPr/>
        </p:nvCxnSpPr>
        <p:spPr>
          <a:xfrm flipH="1" rot="10800000">
            <a:off x="3520440" y="3270420"/>
            <a:ext cx="1188600" cy="1347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" name="Google Shape;134;p4"/>
          <p:cNvSpPr/>
          <p:nvPr/>
        </p:nvSpPr>
        <p:spPr>
          <a:xfrm>
            <a:off x="8641080" y="14630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8641080" y="1463040"/>
            <a:ext cx="54864" cy="82296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8805672" y="16093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Validaciones automáticas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805672" y="19019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4"/>
          <p:cNvCxnSpPr>
            <a:endCxn id="116" idx="3"/>
          </p:cNvCxnSpPr>
          <p:nvPr/>
        </p:nvCxnSpPr>
        <p:spPr>
          <a:xfrm flipH="1">
            <a:off x="7452374" y="1874407"/>
            <a:ext cx="1188600" cy="13959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" name="Google Shape;139;p4"/>
          <p:cNvSpPr/>
          <p:nvPr/>
        </p:nvSpPr>
        <p:spPr>
          <a:xfrm>
            <a:off x="8641080" y="28346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641080" y="2834640"/>
            <a:ext cx="54864" cy="8229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8805672" y="29809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Consultas y filtros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805672" y="32735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4"/>
          <p:cNvCxnSpPr>
            <a:endCxn id="116" idx="3"/>
          </p:cNvCxnSpPr>
          <p:nvPr/>
        </p:nvCxnSpPr>
        <p:spPr>
          <a:xfrm flipH="1">
            <a:off x="7452374" y="3246007"/>
            <a:ext cx="1188600" cy="24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" name="Google Shape;144;p4"/>
          <p:cNvSpPr/>
          <p:nvPr/>
        </p:nvSpPr>
        <p:spPr>
          <a:xfrm>
            <a:off x="8641080" y="4206240"/>
            <a:ext cx="2697480" cy="82296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8641080" y="4206240"/>
            <a:ext cx="54864" cy="82296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805672" y="435254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Excel Academusoft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805672" y="4645152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 clave del servicio.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>
            <a:endCxn id="116" idx="3"/>
          </p:cNvCxnSpPr>
          <p:nvPr/>
        </p:nvCxnSpPr>
        <p:spPr>
          <a:xfrm rot="10800000">
            <a:off x="7452374" y="3270307"/>
            <a:ext cx="1188600" cy="1347300"/>
          </a:xfrm>
          <a:prstGeom prst="straightConnector1">
            <a:avLst/>
          </a:prstGeom>
          <a:noFill/>
          <a:ln cap="flat" cmpd="sng" w="15225">
            <a:solidFill>
              <a:srgbClr val="B6C5D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9" name="Google Shape;149;p4"/>
          <p:cNvSpPr/>
          <p:nvPr/>
        </p:nvSpPr>
        <p:spPr>
          <a:xfrm>
            <a:off x="3108960" y="5349240"/>
            <a:ext cx="5943600" cy="502920"/>
          </a:xfrm>
          <a:prstGeom prst="roundRect">
            <a:avLst>
              <a:gd fmla="val 18182" name="adj"/>
            </a:avLst>
          </a:prstGeom>
          <a:solidFill>
            <a:srgbClr val="EAF2FF"/>
          </a:solidFill>
          <a:ln cap="flat" cmpd="sng" w="12700">
            <a:solidFill>
              <a:srgbClr val="BB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291840" y="5513832"/>
            <a:ext cx="5577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El sistema NO genera automáticamente el horario: el planificador lo construye y UniPlan valida conflictos antes de consolidarlo.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Estructura funcional del servicio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UniPlan separa datos territoriales, académicos y de planificación para representar el proceso de forma consistente.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40080" y="1508760"/>
            <a:ext cx="1280160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713232" y="157276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Territorial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343400" y="1508760"/>
            <a:ext cx="1280160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416552" y="157276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Académica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046720" y="1508760"/>
            <a:ext cx="1280160" cy="256032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119872" y="157276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85800" y="1920240"/>
            <a:ext cx="237744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31520" y="208483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Centro Tutorial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85800" y="2743200"/>
            <a:ext cx="237744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31520" y="290779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Sede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85800" y="3566160"/>
            <a:ext cx="237744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1520" y="3730752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Aula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069080" y="192024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114800" y="208483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Facultad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069080" y="274320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114800" y="290779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Programa Académico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069080" y="356616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114800" y="373075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Plan de Estudio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069080" y="4389120"/>
            <a:ext cx="27432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114800" y="4553712"/>
            <a:ext cx="2651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Asignatura / Semestre / Área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7818120" y="192024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863840" y="208483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Periodo Académico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7818120" y="274320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7863840" y="290779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Grupo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7818120" y="356616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863840" y="373075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Oferta Académica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818120" y="4389120"/>
            <a:ext cx="2971800" cy="530352"/>
          </a:xfrm>
          <a:prstGeom prst="roundRect">
            <a:avLst>
              <a:gd fmla="val 10345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863840" y="4553712"/>
            <a:ext cx="2880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Horario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 rot="5400000">
            <a:off x="1691640" y="248716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 rot="5400000">
            <a:off x="1691640" y="331012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 rot="5400000">
            <a:off x="5257800" y="248716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 rot="5400000">
            <a:off x="5257800" y="331012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 rot="5400000">
            <a:off x="9116568" y="248716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 rot="5400000">
            <a:off x="9116568" y="331012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 rot="5400000">
            <a:off x="5257800" y="413308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 rot="5400000">
            <a:off x="9116568" y="4133088"/>
            <a:ext cx="365760" cy="256032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5"/>
          <p:cNvCxnSpPr/>
          <p:nvPr/>
        </p:nvCxnSpPr>
        <p:spPr>
          <a:xfrm>
            <a:off x="3063240" y="3008376"/>
            <a:ext cx="1005840" cy="0"/>
          </a:xfrm>
          <a:prstGeom prst="straightConnector1">
            <a:avLst/>
          </a:prstGeom>
          <a:noFill/>
          <a:ln cap="flat" cmpd="sng" w="25400">
            <a:solidFill>
              <a:srgbClr val="078C63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7" name="Google Shape;197;p5"/>
          <p:cNvSpPr/>
          <p:nvPr/>
        </p:nvSpPr>
        <p:spPr>
          <a:xfrm>
            <a:off x="3063255" y="3172955"/>
            <a:ext cx="1280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8C6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078C63"/>
                </a:solidFill>
                <a:latin typeface="Calibri"/>
                <a:ea typeface="Calibri"/>
                <a:cs typeface="Calibri"/>
                <a:sym typeface="Calibri"/>
              </a:rPr>
              <a:t>Programa ↔ Centro Tutorial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4160520" y="5532120"/>
            <a:ext cx="3931920" cy="292608"/>
          </a:xfrm>
          <a:prstGeom prst="roundRect">
            <a:avLst>
              <a:gd fmla="val 31250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4160520" y="5600700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relacional diseñado con datos ficticios o anonimizados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9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Objetivos SMART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Objetivos concretos, verificables y distribuidos dentro de las 18 semanas del proyecto.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33967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80267" y="1659636"/>
            <a:ext cx="377190" cy="377190"/>
          </a:xfrm>
          <a:prstGeom prst="ellipse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 txBox="1"/>
          <p:nvPr/>
        </p:nvSpPr>
        <p:spPr>
          <a:xfrm>
            <a:off x="780267" y="1659636"/>
            <a:ext cx="4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sz="1700"/>
          </a:p>
        </p:txBody>
      </p:sp>
      <p:sp>
        <p:nvSpPr>
          <p:cNvPr id="212" name="Google Shape;212;p6"/>
          <p:cNvSpPr txBox="1"/>
          <p:nvPr/>
        </p:nvSpPr>
        <p:spPr>
          <a:xfrm>
            <a:off x="1389850" y="1632204"/>
            <a:ext cx="11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Específico</a:t>
            </a:r>
            <a:endParaRPr sz="1700"/>
          </a:p>
        </p:txBody>
      </p:sp>
      <p:sp>
        <p:nvSpPr>
          <p:cNvPr id="213" name="Google Shape;213;p6"/>
          <p:cNvSpPr txBox="1"/>
          <p:nvPr/>
        </p:nvSpPr>
        <p:spPr>
          <a:xfrm>
            <a:off x="1389850" y="1865376"/>
            <a:ext cx="116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Qué se desarrollará</a:t>
            </a:r>
            <a:endParaRPr sz="1700"/>
          </a:p>
        </p:txBody>
      </p:sp>
      <p:sp>
        <p:nvSpPr>
          <p:cNvPr id="214" name="Google Shape;214;p6"/>
          <p:cNvSpPr/>
          <p:nvPr/>
        </p:nvSpPr>
        <p:spPr>
          <a:xfrm>
            <a:off x="2847975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994275" y="1659636"/>
            <a:ext cx="377190" cy="377190"/>
          </a:xfrm>
          <a:prstGeom prst="ellipse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2994275" y="1659636"/>
            <a:ext cx="4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 sz="1700"/>
          </a:p>
        </p:txBody>
      </p:sp>
      <p:sp>
        <p:nvSpPr>
          <p:cNvPr id="217" name="Google Shape;217;p6"/>
          <p:cNvSpPr txBox="1"/>
          <p:nvPr/>
        </p:nvSpPr>
        <p:spPr>
          <a:xfrm>
            <a:off x="3603859" y="1632204"/>
            <a:ext cx="11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Medible</a:t>
            </a:r>
            <a:endParaRPr sz="1700"/>
          </a:p>
        </p:txBody>
      </p:sp>
      <p:sp>
        <p:nvSpPr>
          <p:cNvPr id="218" name="Google Shape;218;p6"/>
          <p:cNvSpPr txBox="1"/>
          <p:nvPr/>
        </p:nvSpPr>
        <p:spPr>
          <a:xfrm>
            <a:off x="3603859" y="1865376"/>
            <a:ext cx="116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Entregables y pruebas</a:t>
            </a:r>
            <a:endParaRPr sz="1700"/>
          </a:p>
        </p:txBody>
      </p:sp>
      <p:sp>
        <p:nvSpPr>
          <p:cNvPr id="219" name="Google Shape;219;p6"/>
          <p:cNvSpPr/>
          <p:nvPr/>
        </p:nvSpPr>
        <p:spPr>
          <a:xfrm>
            <a:off x="5061983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208283" y="1659636"/>
            <a:ext cx="377190" cy="37719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5208283" y="1659636"/>
            <a:ext cx="4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700"/>
          </a:p>
        </p:txBody>
      </p:sp>
      <p:sp>
        <p:nvSpPr>
          <p:cNvPr id="222" name="Google Shape;222;p6"/>
          <p:cNvSpPr txBox="1"/>
          <p:nvPr/>
        </p:nvSpPr>
        <p:spPr>
          <a:xfrm>
            <a:off x="5817867" y="1632204"/>
            <a:ext cx="11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Alcanzable</a:t>
            </a:r>
            <a:endParaRPr sz="1700"/>
          </a:p>
        </p:txBody>
      </p:sp>
      <p:sp>
        <p:nvSpPr>
          <p:cNvPr id="223" name="Google Shape;223;p6"/>
          <p:cNvSpPr txBox="1"/>
          <p:nvPr/>
        </p:nvSpPr>
        <p:spPr>
          <a:xfrm>
            <a:off x="5817877" y="1865375"/>
            <a:ext cx="1494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Alcance manual asistido</a:t>
            </a:r>
            <a:endParaRPr sz="1700"/>
          </a:p>
        </p:txBody>
      </p:sp>
      <p:sp>
        <p:nvSpPr>
          <p:cNvPr id="224" name="Google Shape;224;p6"/>
          <p:cNvSpPr/>
          <p:nvPr/>
        </p:nvSpPr>
        <p:spPr>
          <a:xfrm>
            <a:off x="7275991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7422291" y="1659636"/>
            <a:ext cx="377190" cy="377190"/>
          </a:xfrm>
          <a:prstGeom prst="ellipse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 txBox="1"/>
          <p:nvPr/>
        </p:nvSpPr>
        <p:spPr>
          <a:xfrm>
            <a:off x="7422291" y="1659636"/>
            <a:ext cx="4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sz="1700"/>
          </a:p>
        </p:txBody>
      </p:sp>
      <p:sp>
        <p:nvSpPr>
          <p:cNvPr id="227" name="Google Shape;227;p6"/>
          <p:cNvSpPr txBox="1"/>
          <p:nvPr/>
        </p:nvSpPr>
        <p:spPr>
          <a:xfrm>
            <a:off x="8031875" y="1632204"/>
            <a:ext cx="11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Relevante</a:t>
            </a:r>
            <a:endParaRPr sz="1700"/>
          </a:p>
        </p:txBody>
      </p:sp>
      <p:sp>
        <p:nvSpPr>
          <p:cNvPr id="228" name="Google Shape;228;p6"/>
          <p:cNvSpPr txBox="1"/>
          <p:nvPr/>
        </p:nvSpPr>
        <p:spPr>
          <a:xfrm>
            <a:off x="8031875" y="1865376"/>
            <a:ext cx="116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Resuelve un problema real</a:t>
            </a:r>
            <a:endParaRPr sz="1700"/>
          </a:p>
        </p:txBody>
      </p:sp>
      <p:sp>
        <p:nvSpPr>
          <p:cNvPr id="229" name="Google Shape;229;p6"/>
          <p:cNvSpPr/>
          <p:nvPr/>
        </p:nvSpPr>
        <p:spPr>
          <a:xfrm>
            <a:off x="9489999" y="1543050"/>
            <a:ext cx="2067708" cy="78867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9636299" y="1659636"/>
            <a:ext cx="377190" cy="377190"/>
          </a:xfrm>
          <a:prstGeom prst="ellipse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 txBox="1"/>
          <p:nvPr/>
        </p:nvSpPr>
        <p:spPr>
          <a:xfrm>
            <a:off x="9636299" y="1659636"/>
            <a:ext cx="49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sz="1700"/>
          </a:p>
        </p:txBody>
      </p:sp>
      <p:sp>
        <p:nvSpPr>
          <p:cNvPr id="232" name="Google Shape;232;p6"/>
          <p:cNvSpPr txBox="1"/>
          <p:nvPr/>
        </p:nvSpPr>
        <p:spPr>
          <a:xfrm>
            <a:off x="10245883" y="1632204"/>
            <a:ext cx="11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Temporal</a:t>
            </a:r>
            <a:endParaRPr sz="1700"/>
          </a:p>
        </p:txBody>
      </p:sp>
      <p:sp>
        <p:nvSpPr>
          <p:cNvPr id="233" name="Google Shape;233;p6"/>
          <p:cNvSpPr txBox="1"/>
          <p:nvPr/>
        </p:nvSpPr>
        <p:spPr>
          <a:xfrm>
            <a:off x="10245883" y="1865376"/>
            <a:ext cx="116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Plan de 18 semanas</a:t>
            </a:r>
            <a:endParaRPr sz="1700"/>
          </a:p>
        </p:txBody>
      </p:sp>
      <p:sp>
        <p:nvSpPr>
          <p:cNvPr id="234" name="Google Shape;234;p6"/>
          <p:cNvSpPr/>
          <p:nvPr/>
        </p:nvSpPr>
        <p:spPr>
          <a:xfrm>
            <a:off x="633967" y="2537460"/>
            <a:ext cx="10923740" cy="994409"/>
          </a:xfrm>
          <a:prstGeom prst="roundRect">
            <a:avLst>
              <a:gd fmla="val 16667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877800" y="2654046"/>
            <a:ext cx="1950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700"/>
          </a:p>
        </p:txBody>
      </p:sp>
      <p:sp>
        <p:nvSpPr>
          <p:cNvPr id="236" name="Google Shape;236;p6"/>
          <p:cNvSpPr txBox="1"/>
          <p:nvPr/>
        </p:nvSpPr>
        <p:spPr>
          <a:xfrm>
            <a:off x="877800" y="2894076"/>
            <a:ext cx="10362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y validar UniPlan como servicio web para centralizar la planificación manual de horarios, detectar conflictos y generar una salida Excel para el proceso posterior en Academusoft.</a:t>
            </a:r>
            <a:endParaRPr sz="1700"/>
          </a:p>
        </p:txBody>
      </p:sp>
      <p:sp>
        <p:nvSpPr>
          <p:cNvPr id="237" name="Google Shape;237;p6"/>
          <p:cNvSpPr/>
          <p:nvPr/>
        </p:nvSpPr>
        <p:spPr>
          <a:xfrm>
            <a:off x="633967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633967" y="3737610"/>
            <a:ext cx="2067708" cy="219456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780267" y="4032504"/>
            <a:ext cx="1775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S1–S3</a:t>
            </a:r>
            <a:endParaRPr sz="1700"/>
          </a:p>
        </p:txBody>
      </p:sp>
      <p:sp>
        <p:nvSpPr>
          <p:cNvPr id="240" name="Google Shape;240;p6"/>
          <p:cNvSpPr txBox="1"/>
          <p:nvPr/>
        </p:nvSpPr>
        <p:spPr>
          <a:xfrm>
            <a:off x="780267" y="4251960"/>
            <a:ext cx="17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 sz="1700"/>
          </a:p>
        </p:txBody>
      </p:sp>
      <p:sp>
        <p:nvSpPr>
          <p:cNvPr id="241" name="Google Shape;241;p6"/>
          <p:cNvSpPr txBox="1"/>
          <p:nvPr/>
        </p:nvSpPr>
        <p:spPr>
          <a:xfrm>
            <a:off x="780267" y="4498848"/>
            <a:ext cx="1775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Proceso actual, actores, reglas y restricciones.</a:t>
            </a:r>
            <a:endParaRPr sz="1700"/>
          </a:p>
        </p:txBody>
      </p:sp>
      <p:sp>
        <p:nvSpPr>
          <p:cNvPr id="242" name="Google Shape;242;p6"/>
          <p:cNvSpPr/>
          <p:nvPr/>
        </p:nvSpPr>
        <p:spPr>
          <a:xfrm>
            <a:off x="2847975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2847975" y="3737610"/>
            <a:ext cx="2067708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2994275" y="4032504"/>
            <a:ext cx="1775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S2–S4</a:t>
            </a:r>
            <a:endParaRPr sz="1700"/>
          </a:p>
        </p:txBody>
      </p:sp>
      <p:sp>
        <p:nvSpPr>
          <p:cNvPr id="245" name="Google Shape;245;p6"/>
          <p:cNvSpPr txBox="1"/>
          <p:nvPr/>
        </p:nvSpPr>
        <p:spPr>
          <a:xfrm>
            <a:off x="2994275" y="4251960"/>
            <a:ext cx="17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Diseñar</a:t>
            </a:r>
            <a:endParaRPr sz="1700"/>
          </a:p>
        </p:txBody>
      </p:sp>
      <p:sp>
        <p:nvSpPr>
          <p:cNvPr id="246" name="Google Shape;246;p6"/>
          <p:cNvSpPr txBox="1"/>
          <p:nvPr/>
        </p:nvSpPr>
        <p:spPr>
          <a:xfrm>
            <a:off x="2994275" y="4498848"/>
            <a:ext cx="1775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Arquitectura, modelo de datos e interfaces.</a:t>
            </a:r>
            <a:endParaRPr sz="1700"/>
          </a:p>
        </p:txBody>
      </p:sp>
      <p:sp>
        <p:nvSpPr>
          <p:cNvPr id="247" name="Google Shape;247;p6"/>
          <p:cNvSpPr/>
          <p:nvPr/>
        </p:nvSpPr>
        <p:spPr>
          <a:xfrm>
            <a:off x="5061983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061983" y="3737610"/>
            <a:ext cx="2067708" cy="219456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5208283" y="4032504"/>
            <a:ext cx="1775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S5–S10</a:t>
            </a:r>
            <a:endParaRPr sz="1700"/>
          </a:p>
        </p:txBody>
      </p:sp>
      <p:sp>
        <p:nvSpPr>
          <p:cNvPr id="250" name="Google Shape;250;p6"/>
          <p:cNvSpPr txBox="1"/>
          <p:nvPr/>
        </p:nvSpPr>
        <p:spPr>
          <a:xfrm>
            <a:off x="5208283" y="4251960"/>
            <a:ext cx="17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Desarrollar</a:t>
            </a:r>
            <a:endParaRPr sz="1700"/>
          </a:p>
        </p:txBody>
      </p:sp>
      <p:sp>
        <p:nvSpPr>
          <p:cNvPr id="251" name="Google Shape;251;p6"/>
          <p:cNvSpPr txBox="1"/>
          <p:nvPr/>
        </p:nvSpPr>
        <p:spPr>
          <a:xfrm>
            <a:off x="5208283" y="4498848"/>
            <a:ext cx="1775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Módulos base, mantenedores y planificación manual.</a:t>
            </a:r>
            <a:endParaRPr sz="1700"/>
          </a:p>
        </p:txBody>
      </p:sp>
      <p:sp>
        <p:nvSpPr>
          <p:cNvPr id="252" name="Google Shape;252;p6"/>
          <p:cNvSpPr/>
          <p:nvPr/>
        </p:nvSpPr>
        <p:spPr>
          <a:xfrm>
            <a:off x="7275991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7275991" y="3737610"/>
            <a:ext cx="2067708" cy="219456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 txBox="1"/>
          <p:nvPr/>
        </p:nvSpPr>
        <p:spPr>
          <a:xfrm>
            <a:off x="7422291" y="4032504"/>
            <a:ext cx="1775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S9–S14</a:t>
            </a:r>
            <a:endParaRPr sz="1700"/>
          </a:p>
        </p:txBody>
      </p:sp>
      <p:sp>
        <p:nvSpPr>
          <p:cNvPr id="255" name="Google Shape;255;p6"/>
          <p:cNvSpPr txBox="1"/>
          <p:nvPr/>
        </p:nvSpPr>
        <p:spPr>
          <a:xfrm>
            <a:off x="7422291" y="4251960"/>
            <a:ext cx="17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endParaRPr sz="1700"/>
          </a:p>
        </p:txBody>
      </p:sp>
      <p:sp>
        <p:nvSpPr>
          <p:cNvPr id="256" name="Google Shape;256;p6"/>
          <p:cNvSpPr txBox="1"/>
          <p:nvPr/>
        </p:nvSpPr>
        <p:spPr>
          <a:xfrm>
            <a:off x="7422291" y="4498848"/>
            <a:ext cx="1775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Validaciones y exportación Excel.</a:t>
            </a:r>
            <a:endParaRPr sz="1700"/>
          </a:p>
        </p:txBody>
      </p:sp>
      <p:sp>
        <p:nvSpPr>
          <p:cNvPr id="257" name="Google Shape;257;p6"/>
          <p:cNvSpPr/>
          <p:nvPr/>
        </p:nvSpPr>
        <p:spPr>
          <a:xfrm>
            <a:off x="9489999" y="3737610"/>
            <a:ext cx="2067708" cy="13030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9489999" y="3737610"/>
            <a:ext cx="2067708" cy="219456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9636299" y="4032504"/>
            <a:ext cx="1775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S13–S18</a:t>
            </a:r>
            <a:endParaRPr sz="1700"/>
          </a:p>
        </p:txBody>
      </p:sp>
      <p:sp>
        <p:nvSpPr>
          <p:cNvPr id="260" name="Google Shape;260;p6"/>
          <p:cNvSpPr txBox="1"/>
          <p:nvPr/>
        </p:nvSpPr>
        <p:spPr>
          <a:xfrm>
            <a:off x="9636299" y="4251960"/>
            <a:ext cx="17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Validar</a:t>
            </a:r>
            <a:endParaRPr sz="1700"/>
          </a:p>
        </p:txBody>
      </p:sp>
      <p:sp>
        <p:nvSpPr>
          <p:cNvPr id="261" name="Google Shape;261;p6"/>
          <p:cNvSpPr txBox="1"/>
          <p:nvPr/>
        </p:nvSpPr>
        <p:spPr>
          <a:xfrm>
            <a:off x="9636299" y="4498848"/>
            <a:ext cx="1775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Pruebas, correcciones, documentación y despliegue.</a:t>
            </a:r>
            <a:endParaRPr sz="1700"/>
          </a:p>
        </p:txBody>
      </p:sp>
      <p:sp>
        <p:nvSpPr>
          <p:cNvPr id="262" name="Google Shape;262;p6"/>
          <p:cNvSpPr/>
          <p:nvPr/>
        </p:nvSpPr>
        <p:spPr>
          <a:xfrm>
            <a:off x="633967" y="5280660"/>
            <a:ext cx="10923740" cy="51435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853417" y="5383530"/>
            <a:ext cx="10484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Cómo se medirá: módulos funcionales + reglas validadas + casos de prueba + documentación + exportación compatible con la especificación oficial.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Metodología de desarrollo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Scrum adaptado a Capstone: entregas incrementales, revisión continua y control de avance.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86868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EAF2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96012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00584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requerimientos priorizados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271576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310896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20040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324612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incremento corto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95604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34924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44068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48640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funcionalidad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719632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758952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768096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772668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validación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9436608" y="2313432"/>
            <a:ext cx="457200" cy="384048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9829800" y="1920240"/>
            <a:ext cx="173736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BFD0E4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9921240" y="2176272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Revisión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9966960" y="252374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retroalimentación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68680" y="4069080"/>
            <a:ext cx="3246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68680" y="4069080"/>
            <a:ext cx="54864" cy="96012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1033272" y="421538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1033272" y="45079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Levantamiento, definición, diseño y prototipo inicial.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480560" y="4069080"/>
            <a:ext cx="3246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4480560" y="4069080"/>
            <a:ext cx="54864" cy="96012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645152" y="421538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4645152" y="45079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Desarrollo incremental de módulos, validaciones y consultas.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8092440" y="4069080"/>
            <a:ext cx="3246120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8092440" y="4069080"/>
            <a:ext cx="54864" cy="9601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257032" y="4215384"/>
            <a:ext cx="29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8257032" y="450799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Pruebas integrales, documentación, despliegue y cierre.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4526280" y="5577840"/>
            <a:ext cx="3108960" cy="292608"/>
          </a:xfrm>
          <a:prstGeom prst="roundRect">
            <a:avLst>
              <a:gd fmla="val 31250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4526280" y="5646420"/>
            <a:ext cx="3108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visual: Trello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f8bba1b173_0_3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f8bba1b173_0_3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8bba1b173_0_3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Metodología de desarrollo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f8bba1b173_0_3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Scrum adaptado a Capstone: entregas incrementales, revisión continua y control de avance.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5" name="Google Shape;315;g3f8bba1b173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8200" y="1605175"/>
            <a:ext cx="9846500" cy="47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02920" y="70408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Planificación de trabajo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594358" y="1010463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Resumen visual de las 18 semanas del proyecto.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685800" y="1261872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205740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253288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300837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3483864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3959352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43484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91032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38581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5861304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6336792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681228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728776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776325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8238744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8714232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9189720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9665208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10140696" y="12618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S18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685800" y="166420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2057400" y="1709928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2057400" y="1645920"/>
            <a:ext cx="950976" cy="16459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685800" y="2011680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2057400" y="2057400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2057400" y="1993392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685800" y="2359152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057400" y="2404872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2532888" y="2340864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685800" y="2706624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Módulos base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2057400" y="2752344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3959352" y="2688336"/>
            <a:ext cx="950976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685800" y="3054096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Jerarquía académica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2057400" y="3099816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4434840" y="3035808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685800" y="340156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Planificación manual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057400" y="3447288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385816" y="3383280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685800" y="3749040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Validaciones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2057400" y="3794760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861304" y="3730752"/>
            <a:ext cx="1901952" cy="164592"/>
          </a:xfrm>
          <a:prstGeom prst="roundRect">
            <a:avLst>
              <a:gd fmla="val 16667" name="adj"/>
            </a:avLst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685800" y="4096512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2057400" y="4142232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6812280" y="4078224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685800" y="4443984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Excel Academusoft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2057400" y="4489704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7287768" y="4425696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685800" y="4791456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Pruebas integrales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2057400" y="4837176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7763256" y="4773168"/>
            <a:ext cx="1901952" cy="164592"/>
          </a:xfrm>
          <a:prstGeom prst="roundRect">
            <a:avLst>
              <a:gd fmla="val 16667" name="adj"/>
            </a:avLst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685800" y="5138928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Correcciones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2057400" y="5184648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8714232" y="5120640"/>
            <a:ext cx="950976" cy="164592"/>
          </a:xfrm>
          <a:prstGeom prst="roundRect">
            <a:avLst>
              <a:gd fmla="val 16667" name="adj"/>
            </a:avLst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685800" y="5486400"/>
            <a:ext cx="16459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760"/>
              <a:buFont typeface="Calibri"/>
              <a:buNone/>
            </a:pPr>
            <a:r>
              <a:rPr b="0" i="0" lang="en-US" sz="76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Documentación final</a:t>
            </a:r>
            <a:endParaRPr b="0" i="0" sz="7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057400" y="5532120"/>
            <a:ext cx="8558784" cy="54864"/>
          </a:xfrm>
          <a:prstGeom prst="rect">
            <a:avLst/>
          </a:prstGeom>
          <a:solidFill>
            <a:srgbClr val="E5EAF1"/>
          </a:solidFill>
          <a:ln cap="flat" cmpd="sng" w="12700">
            <a:solidFill>
              <a:srgbClr val="E5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9189720" y="5468112"/>
            <a:ext cx="1426464" cy="164592"/>
          </a:xfrm>
          <a:prstGeom prst="roundRect">
            <a:avLst>
              <a:gd fmla="val 16667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685800" y="5943600"/>
            <a:ext cx="10789920" cy="41148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D7E1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914400" y="6080760"/>
            <a:ext cx="102412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Criterio de avance: cada incremento debe dejar evidencia en GitHub, Trello, OneDrive y pruebas funcionales.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9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Herramientas y tecnologías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Stack definido para gestionar, desarrollar, versionar, probar, documentar y desplegar UniPlan.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777240" y="169164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777240" y="1691640"/>
            <a:ext cx="54864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960120" y="185623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960120" y="2194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Trello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526280" y="169164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4526280" y="1691640"/>
            <a:ext cx="54864" cy="1051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4709160" y="185623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Prototipado, diseño </a:t>
            </a:r>
            <a:endParaRPr b="1" sz="1250">
              <a:solidFill>
                <a:srgbClr val="082B5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4709160" y="2194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 · Django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HTML · CSS · JS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8275320" y="169164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8275320" y="1691640"/>
            <a:ext cx="54864" cy="105156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8458200" y="185623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BD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8458200" y="21945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SQLite local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PostgreSQL objetivo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777240" y="320040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"/>
          <p:cNvSpPr/>
          <p:nvPr/>
        </p:nvSpPr>
        <p:spPr>
          <a:xfrm>
            <a:off x="777240" y="3200400"/>
            <a:ext cx="54864" cy="105156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960120" y="336499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Versiones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96012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Git · GitHub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4526280" y="320040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4526280" y="3200400"/>
            <a:ext cx="54864" cy="1051560"/>
          </a:xfrm>
          <a:prstGeom prst="rect">
            <a:avLst/>
          </a:prstGeom>
          <a:solidFill>
            <a:srgbClr val="C03535"/>
          </a:solidFill>
          <a:ln cap="flat" cmpd="sng" w="12700">
            <a:solidFill>
              <a:srgbClr val="C03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4709160" y="336499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Diagramación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470916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Draw.io 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8275320" y="3200400"/>
            <a:ext cx="3154680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8275320" y="3200400"/>
            <a:ext cx="54864" cy="105156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8458200" y="336499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8458200" y="370332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Django Test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20"/>
              <a:buFont typeface="Calibri"/>
              <a:buNone/>
            </a:pPr>
            <a:r>
              <a:rPr b="0" i="0" lang="en-US" sz="102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Postman · Navegador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0314" y="1919075"/>
            <a:ext cx="651549" cy="65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198" y="1746513"/>
            <a:ext cx="438899" cy="4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6772" y="1746509"/>
            <a:ext cx="438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18" name="Google Shape;41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1348" y="1760212"/>
            <a:ext cx="411454" cy="41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9"/>
          <p:cNvPicPr preferRelativeResize="0"/>
          <p:nvPr/>
        </p:nvPicPr>
        <p:blipFill rotWithShape="1">
          <a:blip r:embed="rId7">
            <a:alphaModFix/>
          </a:blip>
          <a:srcRect b="0" l="27420" r="28560" t="0"/>
          <a:stretch/>
        </p:blipFill>
        <p:spPr>
          <a:xfrm>
            <a:off x="6385348" y="2259385"/>
            <a:ext cx="340792" cy="4388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20" name="Google Shape;42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67176" y="2277651"/>
            <a:ext cx="402300" cy="402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94401" y="2019302"/>
            <a:ext cx="451055" cy="45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07075" y="2032699"/>
            <a:ext cx="411451" cy="42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29329" y="3483538"/>
            <a:ext cx="531000" cy="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134569" y="3557599"/>
            <a:ext cx="438899" cy="43889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25" name="Google Shape;425;p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818413" y="3494943"/>
            <a:ext cx="451050" cy="45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0472" y="3507484"/>
            <a:ext cx="438900" cy="438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pic>
        <p:nvPicPr>
          <p:cNvPr id="427" name="Google Shape;427;p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11638" y="3519088"/>
            <a:ext cx="402300" cy="402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FE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</p:pic>
      <p:sp>
        <p:nvSpPr>
          <p:cNvPr id="428" name="Google Shape;428;p9"/>
          <p:cNvSpPr/>
          <p:nvPr/>
        </p:nvSpPr>
        <p:spPr>
          <a:xfrm>
            <a:off x="780267" y="4697730"/>
            <a:ext cx="3157643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780267" y="4697730"/>
            <a:ext cx="60958" cy="92583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"/>
          <p:cNvSpPr txBox="1"/>
          <p:nvPr/>
        </p:nvSpPr>
        <p:spPr>
          <a:xfrm>
            <a:off x="950950" y="4821174"/>
            <a:ext cx="279189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Despliegue</a:t>
            </a:r>
            <a:endParaRPr/>
          </a:p>
        </p:txBody>
      </p:sp>
      <p:sp>
        <p:nvSpPr>
          <p:cNvPr id="431" name="Google Shape;431;p9"/>
          <p:cNvSpPr txBox="1"/>
          <p:nvPr/>
        </p:nvSpPr>
        <p:spPr>
          <a:xfrm>
            <a:off x="950950" y="5074920"/>
            <a:ext cx="279189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Render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Django + PostgreSQL</a:t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4523111" y="4697730"/>
            <a:ext cx="3157643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4523111" y="4697730"/>
            <a:ext cx="60958" cy="92583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4693794" y="4821174"/>
            <a:ext cx="279189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/>
          </a:p>
        </p:txBody>
      </p:sp>
      <p:sp>
        <p:nvSpPr>
          <p:cNvPr id="435" name="Google Shape;435;p9"/>
          <p:cNvSpPr txBox="1"/>
          <p:nvPr/>
        </p:nvSpPr>
        <p:spPr>
          <a:xfrm>
            <a:off x="4693794" y="5074920"/>
            <a:ext cx="279189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OneDrive · Word · PowerPoint</a:t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8278147" y="4697730"/>
            <a:ext cx="3157643" cy="9258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8278147" y="4697730"/>
            <a:ext cx="60958" cy="92583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9"/>
          <p:cNvSpPr txBox="1"/>
          <p:nvPr/>
        </p:nvSpPr>
        <p:spPr>
          <a:xfrm>
            <a:off x="8448830" y="4821174"/>
            <a:ext cx="2791893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/>
          </a:p>
        </p:txBody>
      </p:sp>
      <p:sp>
        <p:nvSpPr>
          <p:cNvPr id="439" name="Google Shape;439;p9"/>
          <p:cNvSpPr txBox="1"/>
          <p:nvPr/>
        </p:nvSpPr>
        <p:spPr>
          <a:xfrm>
            <a:off x="8448830" y="5074920"/>
            <a:ext cx="279189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Excel para Academusoft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8bba1b173_0_41"/>
          <p:cNvSpPr txBox="1"/>
          <p:nvPr/>
        </p:nvSpPr>
        <p:spPr>
          <a:xfrm>
            <a:off x="488017" y="2313730"/>
            <a:ext cx="26823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FLUJO BÁSICO DE NAVEGACIÓN</a:t>
            </a:r>
            <a:endParaRPr sz="1600"/>
          </a:p>
        </p:txBody>
      </p:sp>
      <p:sp>
        <p:nvSpPr>
          <p:cNvPr id="446" name="Google Shape;446;g3f8bba1b173_0_41"/>
          <p:cNvSpPr/>
          <p:nvPr/>
        </p:nvSpPr>
        <p:spPr>
          <a:xfrm>
            <a:off x="488017" y="2588050"/>
            <a:ext cx="12801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f8bba1b173_0_41"/>
          <p:cNvSpPr txBox="1"/>
          <p:nvPr/>
        </p:nvSpPr>
        <p:spPr>
          <a:xfrm>
            <a:off x="536783" y="2629198"/>
            <a:ext cx="1182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sz="1600"/>
          </a:p>
        </p:txBody>
      </p:sp>
      <p:sp>
        <p:nvSpPr>
          <p:cNvPr id="448" name="Google Shape;448;g3f8bba1b173_0_41"/>
          <p:cNvSpPr/>
          <p:nvPr/>
        </p:nvSpPr>
        <p:spPr>
          <a:xfrm>
            <a:off x="1816909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g3f8bba1b173_0_41"/>
          <p:cNvSpPr/>
          <p:nvPr/>
        </p:nvSpPr>
        <p:spPr>
          <a:xfrm>
            <a:off x="2121701" y="2588050"/>
            <a:ext cx="15240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g3f8bba1b173_0_41"/>
          <p:cNvSpPr txBox="1"/>
          <p:nvPr/>
        </p:nvSpPr>
        <p:spPr>
          <a:xfrm>
            <a:off x="2170468" y="2629198"/>
            <a:ext cx="14265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sz="1600"/>
          </a:p>
        </p:txBody>
      </p:sp>
      <p:sp>
        <p:nvSpPr>
          <p:cNvPr id="451" name="Google Shape;451;g3f8bba1b173_0_41"/>
          <p:cNvSpPr/>
          <p:nvPr/>
        </p:nvSpPr>
        <p:spPr>
          <a:xfrm>
            <a:off x="3694427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3f8bba1b173_0_41"/>
          <p:cNvSpPr/>
          <p:nvPr/>
        </p:nvSpPr>
        <p:spPr>
          <a:xfrm>
            <a:off x="3999219" y="2588050"/>
            <a:ext cx="17067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g3f8bba1b173_0_41"/>
          <p:cNvSpPr txBox="1"/>
          <p:nvPr/>
        </p:nvSpPr>
        <p:spPr>
          <a:xfrm>
            <a:off x="4047986" y="2629198"/>
            <a:ext cx="16092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Nueva asignación</a:t>
            </a:r>
            <a:endParaRPr sz="1600"/>
          </a:p>
        </p:txBody>
      </p:sp>
      <p:sp>
        <p:nvSpPr>
          <p:cNvPr id="454" name="Google Shape;454;g3f8bba1b173_0_41"/>
          <p:cNvSpPr/>
          <p:nvPr/>
        </p:nvSpPr>
        <p:spPr>
          <a:xfrm>
            <a:off x="5754820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f8bba1b173_0_41"/>
          <p:cNvSpPr/>
          <p:nvPr/>
        </p:nvSpPr>
        <p:spPr>
          <a:xfrm>
            <a:off x="6059612" y="2588050"/>
            <a:ext cx="14019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f8bba1b173_0_41"/>
          <p:cNvSpPr txBox="1"/>
          <p:nvPr/>
        </p:nvSpPr>
        <p:spPr>
          <a:xfrm>
            <a:off x="6108379" y="2629198"/>
            <a:ext cx="13044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sz="1600"/>
          </a:p>
        </p:txBody>
      </p:sp>
      <p:sp>
        <p:nvSpPr>
          <p:cNvPr id="457" name="Google Shape;457;g3f8bba1b173_0_41"/>
          <p:cNvSpPr/>
          <p:nvPr/>
        </p:nvSpPr>
        <p:spPr>
          <a:xfrm>
            <a:off x="7510421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f8bba1b173_0_41"/>
          <p:cNvSpPr/>
          <p:nvPr/>
        </p:nvSpPr>
        <p:spPr>
          <a:xfrm>
            <a:off x="7815213" y="2588050"/>
            <a:ext cx="18288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g3f8bba1b173_0_41"/>
          <p:cNvSpPr txBox="1"/>
          <p:nvPr/>
        </p:nvSpPr>
        <p:spPr>
          <a:xfrm>
            <a:off x="7863980" y="2629198"/>
            <a:ext cx="17313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Guardar / corregir</a:t>
            </a:r>
            <a:endParaRPr sz="1600"/>
          </a:p>
        </p:txBody>
      </p:sp>
      <p:sp>
        <p:nvSpPr>
          <p:cNvPr id="460" name="Google Shape;460;g3f8bba1b173_0_41"/>
          <p:cNvSpPr/>
          <p:nvPr/>
        </p:nvSpPr>
        <p:spPr>
          <a:xfrm>
            <a:off x="9692731" y="2684062"/>
            <a:ext cx="243900" cy="18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3f8bba1b173_0_41"/>
          <p:cNvSpPr/>
          <p:nvPr/>
        </p:nvSpPr>
        <p:spPr>
          <a:xfrm>
            <a:off x="9997523" y="2588050"/>
            <a:ext cx="1280100" cy="377100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f8bba1b173_0_41"/>
          <p:cNvSpPr txBox="1"/>
          <p:nvPr/>
        </p:nvSpPr>
        <p:spPr>
          <a:xfrm>
            <a:off x="10046290" y="2629198"/>
            <a:ext cx="1182600" cy="2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9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Consulta</a:t>
            </a:r>
            <a:endParaRPr sz="1600"/>
          </a:p>
        </p:txBody>
      </p:sp>
      <p:sp>
        <p:nvSpPr>
          <p:cNvPr id="463" name="Google Shape;463;g3f8bba1b173_0_41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f8bba1b173_0_41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f8bba1b173_0_41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f8bba1b173_0_41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7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0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0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 txBox="1"/>
          <p:nvPr/>
        </p:nvSpPr>
        <p:spPr>
          <a:xfrm>
            <a:off x="946925" y="1611630"/>
            <a:ext cx="475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1 · Inicio / Planificación semanal</a:t>
            </a:r>
            <a:endParaRPr sz="1900"/>
          </a:p>
        </p:txBody>
      </p:sp>
      <p:sp>
        <p:nvSpPr>
          <p:cNvPr id="478" name="Google Shape;478;p10"/>
          <p:cNvSpPr txBox="1"/>
          <p:nvPr/>
        </p:nvSpPr>
        <p:spPr>
          <a:xfrm>
            <a:off x="1901100" y="5624714"/>
            <a:ext cx="47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838" y="2009408"/>
            <a:ext cx="7223577" cy="388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f8bba1b173_0_17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8bba1b173_0_17"/>
          <p:cNvSpPr txBox="1"/>
          <p:nvPr/>
        </p:nvSpPr>
        <p:spPr>
          <a:xfrm>
            <a:off x="877800" y="1783080"/>
            <a:ext cx="475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082B52"/>
                </a:solidFill>
              </a:rPr>
              <a:t>2 · Mantenedores</a:t>
            </a:r>
            <a:endParaRPr b="1" sz="1600">
              <a:solidFill>
                <a:srgbClr val="082B5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</p:txBody>
      </p:sp>
      <p:sp>
        <p:nvSpPr>
          <p:cNvPr id="487" name="Google Shape;487;g3f8bba1b173_0_17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8bba1b173_0_17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bba1b173_0_17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bba1b173_0_17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g3f8bba1b173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0053" y="1668875"/>
            <a:ext cx="7280774" cy="443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f8bba1b173_0_106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f8bba1b173_0_106"/>
          <p:cNvSpPr txBox="1"/>
          <p:nvPr/>
        </p:nvSpPr>
        <p:spPr>
          <a:xfrm>
            <a:off x="877800" y="1783080"/>
            <a:ext cx="475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>
                <a:solidFill>
                  <a:srgbClr val="082B52"/>
                </a:solidFill>
              </a:rPr>
              <a:t>2 · </a:t>
            </a:r>
            <a:r>
              <a:rPr b="1" lang="en-US" sz="1600">
                <a:solidFill>
                  <a:srgbClr val="082B52"/>
                </a:solidFill>
              </a:rPr>
              <a:t>Planificación</a:t>
            </a:r>
            <a:r>
              <a:rPr b="1" lang="en-US" sz="1600">
                <a:solidFill>
                  <a:srgbClr val="082B52"/>
                </a:solidFill>
              </a:rPr>
              <a:t> de Horarios</a:t>
            </a:r>
            <a:endParaRPr b="1" sz="1600">
              <a:solidFill>
                <a:srgbClr val="082B5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</p:txBody>
      </p:sp>
      <p:sp>
        <p:nvSpPr>
          <p:cNvPr id="499" name="Google Shape;499;g3f8bba1b173_0_106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f8bba1b173_0_106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g3f8bba1b173_0_106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3f8bba1b173_0_106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g3f8bba1b173_0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5599" y="1728125"/>
            <a:ext cx="4163399" cy="422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8bba1b173_0_76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f8bba1b173_0_76"/>
          <p:cNvSpPr txBox="1"/>
          <p:nvPr/>
        </p:nvSpPr>
        <p:spPr>
          <a:xfrm>
            <a:off x="877800" y="1783080"/>
            <a:ext cx="4754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082B52"/>
                </a:solidFill>
              </a:rPr>
              <a:t>4</a:t>
            </a:r>
            <a:r>
              <a:rPr b="1" lang="en-US" sz="1600">
                <a:solidFill>
                  <a:srgbClr val="082B52"/>
                </a:solidFill>
              </a:rPr>
              <a:t> · Nueva asignación / edición</a:t>
            </a:r>
            <a:endParaRPr b="1" sz="16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82B52"/>
              </a:solidFill>
            </a:endParaRPr>
          </a:p>
        </p:txBody>
      </p:sp>
      <p:sp>
        <p:nvSpPr>
          <p:cNvPr id="511" name="Google Shape;511;g3f8bba1b173_0_76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f8bba1b173_0_76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8bba1b173_0_76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8bba1b173_0_76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8bba1b173_0_76"/>
          <p:cNvSpPr txBox="1"/>
          <p:nvPr/>
        </p:nvSpPr>
        <p:spPr>
          <a:xfrm>
            <a:off x="1106150" y="2139600"/>
            <a:ext cx="19041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0">
                <a:solidFill>
                  <a:srgbClr val="64748B"/>
                </a:solidFill>
              </a:rPr>
              <a:t>Formulario donde se seleccionan periodo, grupo, profesor, aula, día y horario.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516" name="Google Shape;516;g3f8bba1b173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0425" y="1453675"/>
            <a:ext cx="6501080" cy="506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f8bba1b173_0_88"/>
          <p:cNvSpPr/>
          <p:nvPr/>
        </p:nvSpPr>
        <p:spPr>
          <a:xfrm>
            <a:off x="633975" y="1611627"/>
            <a:ext cx="10455300" cy="4545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g3f8bba1b173_0_88"/>
          <p:cNvSpPr txBox="1"/>
          <p:nvPr/>
        </p:nvSpPr>
        <p:spPr>
          <a:xfrm>
            <a:off x="877800" y="1783080"/>
            <a:ext cx="475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82B52"/>
                </a:solidFill>
              </a:rPr>
              <a:t>5</a:t>
            </a:r>
            <a:r>
              <a:rPr b="1" lang="en-US" sz="1600">
                <a:solidFill>
                  <a:srgbClr val="082B52"/>
                </a:solidFill>
              </a:rPr>
              <a:t> · Validación de conflicto</a:t>
            </a:r>
            <a:endParaRPr b="1" sz="1600">
              <a:solidFill>
                <a:srgbClr val="082B5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82B52"/>
              </a:solidFill>
            </a:endParaRPr>
          </a:p>
        </p:txBody>
      </p:sp>
      <p:sp>
        <p:nvSpPr>
          <p:cNvPr id="524" name="Google Shape;524;g3f8bba1b173_0_88"/>
          <p:cNvSpPr/>
          <p:nvPr/>
        </p:nvSpPr>
        <p:spPr>
          <a:xfrm>
            <a:off x="0" y="0"/>
            <a:ext cx="12191700" cy="438900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3f8bba1b173_0_88"/>
          <p:cNvSpPr/>
          <p:nvPr/>
        </p:nvSpPr>
        <p:spPr>
          <a:xfrm>
            <a:off x="502920" y="137160"/>
            <a:ext cx="2743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8bba1b173_0_88"/>
          <p:cNvSpPr/>
          <p:nvPr/>
        </p:nvSpPr>
        <p:spPr>
          <a:xfrm>
            <a:off x="502920" y="713232"/>
            <a:ext cx="11155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Prototipo funcional inicial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8bba1b173_0_88"/>
          <p:cNvSpPr/>
          <p:nvPr/>
        </p:nvSpPr>
        <p:spPr>
          <a:xfrm>
            <a:off x="521208" y="114300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Las capturas deben mostrar las vistas principales y el flujo real de navegación de UniPlan.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8bba1b173_0_88"/>
          <p:cNvSpPr txBox="1"/>
          <p:nvPr/>
        </p:nvSpPr>
        <p:spPr>
          <a:xfrm>
            <a:off x="953275" y="2454525"/>
            <a:ext cx="2218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0">
                <a:solidFill>
                  <a:srgbClr val="64748B"/>
                </a:solidFill>
              </a:rPr>
              <a:t>Mensaje real del sistema cuando detecta cruce de profesor, aula o grupo.</a:t>
            </a:r>
            <a:endParaRPr sz="1330">
              <a:solidFill>
                <a:srgbClr val="64748B"/>
              </a:solidFill>
            </a:endParaRPr>
          </a:p>
        </p:txBody>
      </p:sp>
      <p:pic>
        <p:nvPicPr>
          <p:cNvPr id="529" name="Google Shape;529;g3f8bba1b173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061" y="1611625"/>
            <a:ext cx="6153689" cy="463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1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1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Avance y trazabilidad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 historial de Git demuestra evolución técnica; OneDrive y Trello complementan la documentación y gestión.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633967" y="1645920"/>
            <a:ext cx="6705421" cy="3154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1"/>
          <p:cNvSpPr txBox="1"/>
          <p:nvPr/>
        </p:nvSpPr>
        <p:spPr>
          <a:xfrm>
            <a:off x="914375" y="1851660"/>
            <a:ext cx="6095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EVIDENCIA PRINCIPAL</a:t>
            </a:r>
            <a:endParaRPr/>
          </a:p>
        </p:txBody>
      </p:sp>
      <p:sp>
        <p:nvSpPr>
          <p:cNvPr id="541" name="Google Shape;541;p11"/>
          <p:cNvSpPr txBox="1"/>
          <p:nvPr/>
        </p:nvSpPr>
        <p:spPr>
          <a:xfrm>
            <a:off x="914375" y="2346925"/>
            <a:ext cx="576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1"/>
          <p:cNvSpPr txBox="1"/>
          <p:nvPr/>
        </p:nvSpPr>
        <p:spPr>
          <a:xfrm>
            <a:off x="1036292" y="3120390"/>
            <a:ext cx="5852004" cy="720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Procura que se vean fechas, mensajes de commit y varios puntos de avance del proyecto.</a:t>
            </a:r>
            <a:endParaRPr/>
          </a:p>
        </p:txBody>
      </p:sp>
      <p:sp>
        <p:nvSpPr>
          <p:cNvPr id="543" name="Google Shape;543;p11"/>
          <p:cNvSpPr/>
          <p:nvPr/>
        </p:nvSpPr>
        <p:spPr>
          <a:xfrm>
            <a:off x="7680755" y="1645920"/>
            <a:ext cx="3876952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1"/>
          <p:cNvSpPr/>
          <p:nvPr/>
        </p:nvSpPr>
        <p:spPr>
          <a:xfrm>
            <a:off x="7680755" y="1645920"/>
            <a:ext cx="60958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1"/>
          <p:cNvSpPr txBox="1"/>
          <p:nvPr/>
        </p:nvSpPr>
        <p:spPr>
          <a:xfrm>
            <a:off x="7851438" y="1769364"/>
            <a:ext cx="35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Qué demuestra la captura</a:t>
            </a:r>
            <a:endParaRPr sz="1900"/>
          </a:p>
        </p:txBody>
      </p:sp>
      <p:sp>
        <p:nvSpPr>
          <p:cNvPr id="546" name="Google Shape;546;p11"/>
          <p:cNvSpPr txBox="1"/>
          <p:nvPr/>
        </p:nvSpPr>
        <p:spPr>
          <a:xfrm>
            <a:off x="7851438" y="2023110"/>
            <a:ext cx="35112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Desarrollo incremental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Puntos de respaldo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Trazabilidad de cambios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Uso real de Git/GitHub</a:t>
            </a:r>
            <a:endParaRPr sz="1900"/>
          </a:p>
        </p:txBody>
      </p:sp>
      <p:sp>
        <p:nvSpPr>
          <p:cNvPr id="547" name="Google Shape;547;p11"/>
          <p:cNvSpPr/>
          <p:nvPr/>
        </p:nvSpPr>
        <p:spPr>
          <a:xfrm>
            <a:off x="7680755" y="3188970"/>
            <a:ext cx="3876952" cy="161163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1"/>
          <p:cNvSpPr/>
          <p:nvPr/>
        </p:nvSpPr>
        <p:spPr>
          <a:xfrm>
            <a:off x="7680755" y="3188970"/>
            <a:ext cx="60958" cy="161163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1"/>
          <p:cNvSpPr txBox="1"/>
          <p:nvPr/>
        </p:nvSpPr>
        <p:spPr>
          <a:xfrm>
            <a:off x="7851438" y="3312414"/>
            <a:ext cx="351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Avance funcional actual</a:t>
            </a:r>
            <a:endParaRPr sz="1900"/>
          </a:p>
        </p:txBody>
      </p:sp>
      <p:sp>
        <p:nvSpPr>
          <p:cNvPr id="550" name="Google Shape;550;p11"/>
          <p:cNvSpPr txBox="1"/>
          <p:nvPr/>
        </p:nvSpPr>
        <p:spPr>
          <a:xfrm>
            <a:off x="7851438" y="3566160"/>
            <a:ext cx="3511200" cy="11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Autenticación y permisos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Planificación manual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Validaciones prioritarias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Mantenedores</a:t>
            </a:r>
            <a:b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19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✓ Modelo de datos relacional</a:t>
            </a:r>
            <a:endParaRPr sz="1900"/>
          </a:p>
        </p:txBody>
      </p:sp>
      <p:sp>
        <p:nvSpPr>
          <p:cNvPr id="551" name="Google Shape;551;p11"/>
          <p:cNvSpPr/>
          <p:nvPr/>
        </p:nvSpPr>
        <p:spPr>
          <a:xfrm>
            <a:off x="633967" y="5109210"/>
            <a:ext cx="10923740" cy="630936"/>
          </a:xfrm>
          <a:prstGeom prst="roundRect">
            <a:avLst>
              <a:gd fmla="val 16667" name="adj"/>
            </a:avLst>
          </a:prstGeom>
          <a:solidFill>
            <a:srgbClr val="EAF2FF"/>
          </a:solidFill>
          <a:ln cap="flat" cmpd="sng" w="12700">
            <a:solidFill>
              <a:srgbClr val="BFD4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1"/>
          <p:cNvSpPr txBox="1"/>
          <p:nvPr/>
        </p:nvSpPr>
        <p:spPr>
          <a:xfrm>
            <a:off x="853417" y="5177790"/>
            <a:ext cx="10484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TRAZABILIDAD DEL PROYECTO</a:t>
            </a:r>
            <a:endParaRPr sz="1900"/>
          </a:p>
        </p:txBody>
      </p:sp>
      <p:sp>
        <p:nvSpPr>
          <p:cNvPr id="553" name="Google Shape;553;p11"/>
          <p:cNvSpPr txBox="1"/>
          <p:nvPr/>
        </p:nvSpPr>
        <p:spPr>
          <a:xfrm>
            <a:off x="853417" y="5397246"/>
            <a:ext cx="104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9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GitHub: código y commits   ·   OneDrive: documentación   ·   Trello: Product Backlog y seguimiento de Sprints</a:t>
            </a:r>
            <a:endParaRPr sz="1900"/>
          </a:p>
        </p:txBody>
      </p:sp>
      <p:pic>
        <p:nvPicPr>
          <p:cNvPr id="554" name="Google Shape;5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325" y="2164976"/>
            <a:ext cx="4716960" cy="2502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0" y="0"/>
            <a:ext cx="12191675" cy="438912"/>
          </a:xfrm>
          <a:prstGeom prst="rect">
            <a:avLst/>
          </a:prstGeom>
          <a:solidFill>
            <a:srgbClr val="082B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 txBox="1"/>
          <p:nvPr/>
        </p:nvSpPr>
        <p:spPr>
          <a:xfrm>
            <a:off x="499858" y="137160"/>
            <a:ext cx="3901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/>
          </a:p>
        </p:txBody>
      </p:sp>
      <p:sp>
        <p:nvSpPr>
          <p:cNvPr id="563" name="Google Shape;563;p16"/>
          <p:cNvSpPr txBox="1"/>
          <p:nvPr/>
        </p:nvSpPr>
        <p:spPr>
          <a:xfrm>
            <a:off x="499858" y="713232"/>
            <a:ext cx="1115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¿Qué aprenderemos en este desafío?</a:t>
            </a:r>
            <a:endParaRPr sz="1800"/>
          </a:p>
        </p:txBody>
      </p:sp>
      <p:sp>
        <p:nvSpPr>
          <p:cNvPr id="564" name="Google Shape;564;p16"/>
          <p:cNvSpPr txBox="1"/>
          <p:nvPr/>
        </p:nvSpPr>
        <p:spPr>
          <a:xfrm>
            <a:off x="524242" y="1145286"/>
            <a:ext cx="10972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 proyecto integra competencias técnicas, de gestión y comunicación aplicadas a una problemática real.</a:t>
            </a:r>
            <a:endParaRPr sz="1800"/>
          </a:p>
        </p:txBody>
      </p:sp>
      <p:sp>
        <p:nvSpPr>
          <p:cNvPr id="565" name="Google Shape;565;p16"/>
          <p:cNvSpPr/>
          <p:nvPr/>
        </p:nvSpPr>
        <p:spPr>
          <a:xfrm>
            <a:off x="670542" y="1714500"/>
            <a:ext cx="3352800" cy="147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670542" y="1714500"/>
            <a:ext cx="60900" cy="14745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6"/>
          <p:cNvSpPr txBox="1"/>
          <p:nvPr/>
        </p:nvSpPr>
        <p:spPr>
          <a:xfrm>
            <a:off x="841225" y="1837944"/>
            <a:ext cx="29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Trabajo colaborativo</a:t>
            </a:r>
            <a:endParaRPr sz="1800"/>
          </a:p>
        </p:txBody>
      </p:sp>
      <p:sp>
        <p:nvSpPr>
          <p:cNvPr id="568" name="Google Shape;568;p16"/>
          <p:cNvSpPr txBox="1"/>
          <p:nvPr/>
        </p:nvSpPr>
        <p:spPr>
          <a:xfrm>
            <a:off x="841225" y="2091690"/>
            <a:ext cx="298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Distribuir responsabilidades, revisar avances y tomar decisiones como equipo.</a:t>
            </a:r>
            <a:endParaRPr sz="1800"/>
          </a:p>
        </p:txBody>
      </p:sp>
      <p:sp>
        <p:nvSpPr>
          <p:cNvPr id="569" name="Google Shape;569;p16"/>
          <p:cNvSpPr/>
          <p:nvPr/>
        </p:nvSpPr>
        <p:spPr>
          <a:xfrm>
            <a:off x="4413386" y="1714500"/>
            <a:ext cx="3352800" cy="147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4413386" y="1714500"/>
            <a:ext cx="60900" cy="14745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6"/>
          <p:cNvSpPr txBox="1"/>
          <p:nvPr/>
        </p:nvSpPr>
        <p:spPr>
          <a:xfrm>
            <a:off x="4584069" y="1837944"/>
            <a:ext cx="29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Gestión ágil</a:t>
            </a:r>
            <a:endParaRPr sz="1800"/>
          </a:p>
        </p:txBody>
      </p:sp>
      <p:sp>
        <p:nvSpPr>
          <p:cNvPr id="572" name="Google Shape;572;p16"/>
          <p:cNvSpPr txBox="1"/>
          <p:nvPr/>
        </p:nvSpPr>
        <p:spPr>
          <a:xfrm>
            <a:off x="4584069" y="2091690"/>
            <a:ext cx="298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Aplicar Scrum adaptado y gestionar el Product Backlog en Trello.</a:t>
            </a:r>
            <a:endParaRPr sz="1800"/>
          </a:p>
        </p:txBody>
      </p:sp>
      <p:sp>
        <p:nvSpPr>
          <p:cNvPr id="573" name="Google Shape;573;p16"/>
          <p:cNvSpPr/>
          <p:nvPr/>
        </p:nvSpPr>
        <p:spPr>
          <a:xfrm>
            <a:off x="8156230" y="1714500"/>
            <a:ext cx="3352800" cy="147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8156230" y="1714500"/>
            <a:ext cx="60900" cy="14745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6"/>
          <p:cNvSpPr txBox="1"/>
          <p:nvPr/>
        </p:nvSpPr>
        <p:spPr>
          <a:xfrm>
            <a:off x="8326914" y="1837944"/>
            <a:ext cx="29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Desarrollo e integración</a:t>
            </a:r>
            <a:endParaRPr sz="1800"/>
          </a:p>
        </p:txBody>
      </p:sp>
      <p:sp>
        <p:nvSpPr>
          <p:cNvPr id="576" name="Google Shape;576;p16"/>
          <p:cNvSpPr txBox="1"/>
          <p:nvPr/>
        </p:nvSpPr>
        <p:spPr>
          <a:xfrm>
            <a:off x="8326914" y="2091690"/>
            <a:ext cx="298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Construir módulos Django, modelo de datos e interfaces conectadas.</a:t>
            </a:r>
            <a:endParaRPr sz="1800"/>
          </a:p>
        </p:txBody>
      </p:sp>
      <p:sp>
        <p:nvSpPr>
          <p:cNvPr id="577" name="Google Shape;577;p16"/>
          <p:cNvSpPr/>
          <p:nvPr/>
        </p:nvSpPr>
        <p:spPr>
          <a:xfrm>
            <a:off x="2535868" y="3497580"/>
            <a:ext cx="3352800" cy="147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2535868" y="3497580"/>
            <a:ext cx="60900" cy="147450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6"/>
          <p:cNvSpPr txBox="1"/>
          <p:nvPr/>
        </p:nvSpPr>
        <p:spPr>
          <a:xfrm>
            <a:off x="2706551" y="3621024"/>
            <a:ext cx="29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Calidad y pruebas</a:t>
            </a:r>
            <a:endParaRPr sz="1800"/>
          </a:p>
        </p:txBody>
      </p:sp>
      <p:sp>
        <p:nvSpPr>
          <p:cNvPr id="580" name="Google Shape;580;p16"/>
          <p:cNvSpPr txBox="1"/>
          <p:nvPr/>
        </p:nvSpPr>
        <p:spPr>
          <a:xfrm>
            <a:off x="2706551" y="3874770"/>
            <a:ext cx="2987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Diseñar casos de prueba, detectar defectos y mejorar el producto.</a:t>
            </a:r>
            <a:endParaRPr sz="1800"/>
          </a:p>
        </p:txBody>
      </p:sp>
      <p:sp>
        <p:nvSpPr>
          <p:cNvPr id="581" name="Google Shape;581;p16"/>
          <p:cNvSpPr/>
          <p:nvPr/>
        </p:nvSpPr>
        <p:spPr>
          <a:xfrm>
            <a:off x="6278712" y="3497580"/>
            <a:ext cx="3352800" cy="147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FD8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6278712" y="3497580"/>
            <a:ext cx="60900" cy="147450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6"/>
          <p:cNvSpPr txBox="1"/>
          <p:nvPr/>
        </p:nvSpPr>
        <p:spPr>
          <a:xfrm>
            <a:off x="6449396" y="3621024"/>
            <a:ext cx="29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82B52"/>
                </a:solidFill>
                <a:latin typeface="Arial"/>
                <a:ea typeface="Arial"/>
                <a:cs typeface="Arial"/>
                <a:sym typeface="Arial"/>
              </a:rPr>
              <a:t>Trazabilidad profesional</a:t>
            </a:r>
            <a:endParaRPr sz="1800"/>
          </a:p>
        </p:txBody>
      </p:sp>
      <p:sp>
        <p:nvSpPr>
          <p:cNvPr id="584" name="Google Shape;584;p16"/>
          <p:cNvSpPr txBox="1"/>
          <p:nvPr/>
        </p:nvSpPr>
        <p:spPr>
          <a:xfrm>
            <a:off x="6449396" y="3874770"/>
            <a:ext cx="298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Usar GitHub, OneDrive y documentación para demostrar el proceso.</a:t>
            </a:r>
            <a:endParaRPr sz="1800"/>
          </a:p>
        </p:txBody>
      </p:sp>
      <p:sp>
        <p:nvSpPr>
          <p:cNvPr id="585" name="Google Shape;585;p16"/>
          <p:cNvSpPr/>
          <p:nvPr/>
        </p:nvSpPr>
        <p:spPr>
          <a:xfrm>
            <a:off x="1889700" y="5280646"/>
            <a:ext cx="8412300" cy="738900"/>
          </a:xfrm>
          <a:prstGeom prst="roundRect">
            <a:avLst>
              <a:gd fmla="val 16667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6"/>
          <p:cNvSpPr txBox="1"/>
          <p:nvPr/>
        </p:nvSpPr>
        <p:spPr>
          <a:xfrm>
            <a:off x="2133543" y="5383530"/>
            <a:ext cx="7924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Meta del equipo: convertir una necesidad real en un servicio demostrable, documentado y validado.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6FA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502920" y="13716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UniPlan · Planificación Docente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502920" y="713232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Cierre y próximos pasos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2"/>
          <p:cNvSpPr/>
          <p:nvPr/>
        </p:nvSpPr>
        <p:spPr>
          <a:xfrm>
            <a:off x="521208" y="11430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UniPlan busca reducir errores, reprocesos y falta de trazabilidad en la planificación docente.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2"/>
          <p:cNvSpPr/>
          <p:nvPr/>
        </p:nvSpPr>
        <p:spPr>
          <a:xfrm>
            <a:off x="731520" y="1600200"/>
            <a:ext cx="338328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731520" y="1600200"/>
            <a:ext cx="54864" cy="114300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2"/>
          <p:cNvSpPr/>
          <p:nvPr/>
        </p:nvSpPr>
        <p:spPr>
          <a:xfrm>
            <a:off x="896112" y="174650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6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Importancia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2"/>
          <p:cNvSpPr/>
          <p:nvPr/>
        </p:nvSpPr>
        <p:spPr>
          <a:xfrm>
            <a:off x="896112" y="20391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Aborda un problema real con impacto en planificación, coordinación académica y profesores.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2"/>
          <p:cNvSpPr/>
          <p:nvPr/>
        </p:nvSpPr>
        <p:spPr>
          <a:xfrm>
            <a:off x="4434840" y="1600200"/>
            <a:ext cx="338328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2"/>
          <p:cNvSpPr/>
          <p:nvPr/>
        </p:nvSpPr>
        <p:spPr>
          <a:xfrm>
            <a:off x="4434840" y="1600200"/>
            <a:ext cx="54864" cy="1143000"/>
          </a:xfrm>
          <a:prstGeom prst="rect">
            <a:avLst/>
          </a:prstGeom>
          <a:solidFill>
            <a:srgbClr val="078C63"/>
          </a:solidFill>
          <a:ln cap="flat" cmpd="sng" w="12700">
            <a:solidFill>
              <a:srgbClr val="078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2"/>
          <p:cNvSpPr/>
          <p:nvPr/>
        </p:nvSpPr>
        <p:spPr>
          <a:xfrm>
            <a:off x="4599432" y="174650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6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Impacto esperado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2"/>
          <p:cNvSpPr/>
          <p:nvPr/>
        </p:nvSpPr>
        <p:spPr>
          <a:xfrm>
            <a:off x="4599432" y="20391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Centralizar datos, detectar conflictos antes, disminuir reprocesos y apoyar el flujo hacia Academusoft.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2"/>
          <p:cNvSpPr/>
          <p:nvPr/>
        </p:nvSpPr>
        <p:spPr>
          <a:xfrm>
            <a:off x="8138160" y="1600200"/>
            <a:ext cx="3383280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1DA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2"/>
          <p:cNvSpPr/>
          <p:nvPr/>
        </p:nvSpPr>
        <p:spPr>
          <a:xfrm>
            <a:off x="8138160" y="1600200"/>
            <a:ext cx="54864" cy="11430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2"/>
          <p:cNvSpPr/>
          <p:nvPr/>
        </p:nvSpPr>
        <p:spPr>
          <a:xfrm>
            <a:off x="8302752" y="1746504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250"/>
              <a:buFont typeface="Calibri"/>
              <a:buNone/>
            </a:pPr>
            <a:r>
              <a:rPr b="1" i="0" lang="en-US" sz="165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Equipo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2"/>
          <p:cNvSpPr/>
          <p:nvPr/>
        </p:nvSpPr>
        <p:spPr>
          <a:xfrm>
            <a:off x="8302752" y="203911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Esperamos entregar una solución demostrable, documentada, validada y con trazabilidad en GitHub/OneDrive.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2"/>
          <p:cNvSpPr/>
          <p:nvPr/>
        </p:nvSpPr>
        <p:spPr>
          <a:xfrm>
            <a:off x="1051560" y="3337560"/>
            <a:ext cx="10058400" cy="1325880"/>
          </a:xfrm>
          <a:prstGeom prst="roundRect">
            <a:avLst>
              <a:gd fmla="val 4138" name="adj"/>
            </a:avLst>
          </a:prstGeom>
          <a:solidFill>
            <a:srgbClr val="082B52"/>
          </a:solidFill>
          <a:ln cap="flat" cmpd="sng" w="12700">
            <a:solidFill>
              <a:srgbClr val="082B5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rotWithShape="0" algn="bl" dir="2700000" dist="50800">
              <a:srgbClr val="A8B3C3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2"/>
          <p:cNvSpPr/>
          <p:nvPr/>
        </p:nvSpPr>
        <p:spPr>
          <a:xfrm>
            <a:off x="1463040" y="361188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D2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BBD2FF"/>
                </a:solidFill>
                <a:latin typeface="Calibri"/>
                <a:ea typeface="Calibri"/>
                <a:cs typeface="Calibri"/>
                <a:sym typeface="Calibri"/>
              </a:rPr>
              <a:t>Próximo paso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2"/>
          <p:cNvSpPr/>
          <p:nvPr/>
        </p:nvSpPr>
        <p:spPr>
          <a:xfrm>
            <a:off x="1463040" y="3950208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Finalizar pruebas de mantenedores, incorporar disponibilidad y carga docente, validar la plantilla oficial de Academusoft, migrar a PostgreSQL y desplegar la demo en Render.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2"/>
          <p:cNvSpPr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2B52"/>
              </a:buClr>
              <a:buSzPts val="1500"/>
              <a:buFont typeface="Calibri"/>
              <a:buNone/>
            </a:pPr>
            <a:r>
              <a:rPr b="0" i="1" lang="en-US" sz="1900" u="none" cap="none" strike="noStrike">
                <a:solidFill>
                  <a:srgbClr val="082B52"/>
                </a:solidFill>
                <a:latin typeface="Calibri"/>
                <a:ea typeface="Calibri"/>
                <a:cs typeface="Calibri"/>
                <a:sym typeface="Calibri"/>
              </a:rPr>
              <a:t>“No solo presentamos una idea: demostramos un problema real, una solución en desarrollo y un plan para convertirla en proyecto informático.”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2026-09-03T03:30:22Z</dcterms:created>
  <dc:creator>Equipo Capstone</dc:creator>
</cp:coreProperties>
</file>